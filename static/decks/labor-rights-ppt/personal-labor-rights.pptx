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整理不是把法条抄一遍，而是想回答一个问题：同样遇到劳动纠纷，为什么有人拿得到钱，有人拿不到。答案往往不在「有没有法条」，而在「有没有证据」和「有没有超过时效」。接下来十分钟，我会按入职、在职、离职、救济四段走一遍，每一段都只讲最容易踩坑的那几条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判断标准。题目要求写「自己认为重要」的知识，我把它落成三条可以检验的尺子：第一条是强制优先，社保缴纳和「三期」女职工的解雇保护，不允许用「自愿」两个字排除；第二条是高频争议优先，未签书面合同、加班费、违法解除、仲裁时效，是实践中出现最多的争议；第三条是救济优先，光写「有什么权利」不够，还要写「向谁主张、多久之内主张」。三条合起来，决定了后面十四页讲什么、不讲什么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表是全片的地图。六个阶段，每个阶段一组核心问题：入职看关系成不成立、合同签没签；在职分三块，工资工时、社保工伤、还有「三期」保护；离职看怎么解除、能拿多少补偿；救济看向谁主张、期限多久。右边的依据列不用背，它的用处是——当别人跟你说法条的时候，你能核对他说的是哪一条。先记住六行标题，后面每一页都是在这张表上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很多人以为签了合同才算员工，这是个误会。劳动合同法第七条写得很清楚：用人单位自用工之日起，就与劳动者建立劳动关系。第十条要求一个月内订立书面合同，但那是义务，不是关系成立的前提。如果没签合同，就要看三个要素：主体资格、受劳动管理、干的活是业务的组成部分，三个同时具备就认定成立。证据这一栏要特别注意，工资支付凭证、招用记录、考勤记录这三项，举证责任在用人单位，不在你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不签书面合同，代价是每个月多付一倍工资。注意是「差额」不是「翻倍」：本来该发五千,现在要发一万,多的那五千是二倍工资。起算点是从满一个月的次日起，一直到补订合同的前一天；满一年还没签的，支付到满一年前一日，同时视为已经订立了无固定期限合同，最长十一个月。这一页还放了试用期的上限：三个月以上不满一年最多一个月，一年以上不满三年最多两个月，三年以上和无固定期限最多六个月；试用期工资不得低于同岗位最低档或约定工资的百分之八十，也不能低于当地最低工资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加班费只有三档，没有第四档。工作日延长工时，百分之一百五；休息日加班又不能安排补休，百分之二百；法定节假日加班，百分之三百。这里有两个容易混的点：法定节假日加班不能用补休替代，给钱是必须的；工作日延时加班也不能用补休替代。真正打官司的时候，先卡住的往往不是倍数，是证据——考勤、排班、加班审批单、工资条，能留就留。法律也考虑到劳动者拿不到单位手里的材料，所以有证据证明单位掌握却不提供的，由单位承担不利后果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年休假是法定权利，不是公司福利。累计工作满一年不满十年，五天；满十年不满二十年，十天；满二十年，十五天。没休完的折算方式容易记错：按日工资收入的百分之三百支付，但这百分之三百里已经包含了正常工作期间的工资，所以实际另外支付的只有百分之二百。还有一点，工作年限是按累计工作年限算的，不要求都在同一家单位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社保是强制义务，不是可以商量的事项。用工之日起三十天内要办理社会保险登记，而且要自行申报、按时足额缴纳，非法定事由不得缓缴减免。现实中最常见的是让你签一份「自愿放弃社保」的声明，把该缴的钱以补贴名义发给你。这份声明是无效的——不是「可以撤销」，是自始无效。而且你还可以反过来用它：以未依法缴纳社保为由解除劳动合同，再主张经济补偿。所以签字的时候要想清楚，那点补贴换掉的是工伤、医疗和养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伤认定有两个期限，都跟时间赛跑。用人单位应当自事故伤害发生之日起三十天内申请；单位不申请的，职工本人、近亲属或者工会，可以在一年内直接申请。这两个期限不是「建议」，过了就很麻烦。还有一件很多人不知道的事：单位没给你交工伤保险，不代表没有待遇——由单位按条例规定的项目和标准支付；单位不支付的，由工伤保险基金先行支付，然后再向单位追偿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「三期」指的是孕期、产期、哺乳期，这三段时间受特别保护。用人单位不得依第四十条、第四十一条解除劳动合同——注意，是无过失性辞退和经济性裁员这两条路都堵死了；也不得因为怀孕、生育、哺乳降低工资或者辞退。合同到期的，要顺延到相应情形消失才能终止，顺延期间劳动关系还在，社保也不能断。产假是九十八天，产前检查所需的时间计入劳动时间；地方性的奖励假和生育津贴，以当地规定为准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经济补偿 N，先看情形再看算法。协商一致由单位提出的、劳动者被迫解除的、经济性裁员的、合同期满单位不续订或降低条件续订的，都是 N；无过失性辞退如果没提前三十天书面通知，是 N 加一；违法解除是 2N，或者要求继续履行。算法本身不复杂：每满一年一个月，六个月以上不满一年按一年算，不满六个月给半个月。月工资高于当地上年度职工月平均工资三倍的，按三倍封顶，年限最高十二年。月工资指的是解除或终止前十二个月的平均应得工资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这三个符号经常被混着用，但它们是三条不同的路。N 是合法解除时的经济补偿。2N 是违法解除的赔偿金，按经济补偿标准的两倍支付，你还可以选择要求继续履行合同。N 加一里的那个「一」，是第四十条情形下没有提前三十天书面通知才有的代通知金，它本身不是补偿。所以千万不要把 2N 和 N 加一相加——要么主张违法解除的赔偿金，要么接受合法解除的补偿加代通知金，不能两头都要。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救济这一段，记住两件事：时效和举证。申请仲裁的时效是一年，从你知道或者应当知道权利被侵害之日起算。拖欠劳动报酬有个例外：劳动关系存续期间不受一年限制，但关系终止的，要从终止之日起一年内提出。举证责任是分层的：加班事实、工资差额这些，你要先举；但跟争议有关、由单位掌握管理的证据，单位应当提供；开除、辞退、解除合同这类决定，举证责任在单位。路径是协商、调解、仲裁、诉讼，仲裁是诉讼的前置程序，不能直接起诉。补缴社保不走仲裁，找社保费征收机构或者劳动保障监察部门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前面几页合起来看一个场景。入职时被要求签「自愿放弃社保」，钱以补贴名义随工资发，单位既没登记也没缴工伤保险费，后来在上班时间、工作场所因工作原因受伤。第一步，那份声明无效。第二步，工伤认定，单位三十天内申请，不申请的你自己一年内申请。第三步，因为没参保，待遇由单位按条例项目和标准支付；单位不支付的，基金先行支付后追偿。第四步，你还可以未依法缴纳社保为由解除合同并主张经济补偿。还有两个容易漏的点：单位依法补缴之后，可以要求你返还已经发放的社保补贴；只要求补缴、不主张工伤待遇损失，是最常见的误区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留两条可以带走的规律。第一，风险往往不在「没有法条」，而在「没有证据」和「超过时效」——二倍工资、加班费、违法解除，都要先固定证据；仲裁时效一年，拖欠报酬从关系终止起算。第二，强制性保护不能被「自愿」排除，社保约定无效是最典型的例证，「三期」保护也一样，不允许协商放弃或者降低。如果要记一句话，就记这句：先固定证据，再算时效，最后才是法条。地方标准，包括最低工资、产假奖励假、生育津贴，以当地规定为准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劳动权益法律知识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9" name="cover-title"/>
          <p:cNvGrpSpPr/>
          <p:nvPr/>
        </p:nvGrpSpPr>
        <p:grpSpPr>
          <a:xfrm>
            <a:off x="666750" y="1708150"/>
            <a:ext cx="5369052" cy="2190750"/>
            <a:chOff x="666750" y="1708150"/>
            <a:chExt cx="5369052" cy="2190750"/>
          </a:xfrm>
        </p:grpSpPr>
        <p:sp>
          <p:nvSpPr>
            <p:cNvPr id="7" name="TextBox 7"/>
            <p:cNvSpPr txBox="1"/>
            <p:nvPr/>
          </p:nvSpPr>
          <p:spPr>
            <a:xfrm>
              <a:off x="666750" y="1708150"/>
              <a:ext cx="35920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劳动权益</a:t>
              </a:r>
              <a:endParaRPr lang="zh-CN" sz="66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622550"/>
              <a:ext cx="536905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重要法律知识</a:t>
              </a:r>
              <a:endParaRPr lang="zh-CN" sz="66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cover-hook"/>
          <p:cNvGrpSpPr/>
          <p:nvPr/>
        </p:nvGrpSpPr>
        <p:grpSpPr>
          <a:xfrm>
            <a:off x="675132" y="4476750"/>
            <a:ext cx="9535668" cy="626618"/>
            <a:chOff x="675132" y="4476750"/>
            <a:chExt cx="9535668" cy="626618"/>
          </a:xfrm>
        </p:grpSpPr>
        <p:sp>
          <p:nvSpPr>
            <p:cNvPr id="10" name="Line 10"/>
            <p:cNvSpPr/>
            <p:nvPr/>
          </p:nvSpPr>
          <p:spPr>
            <a:xfrm>
              <a:off x="685800" y="4476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132" y="46926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风险不在没有法条，而在没有证据和超过时效</a:t>
              </a:r>
              <a:endParaRPr lang="zh-CN" sz="21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cover-meta"/>
          <p:cNvGrpSpPr/>
          <p:nvPr/>
        </p:nvGrpSpPr>
        <p:grpSpPr>
          <a:xfrm>
            <a:off x="678180" y="5581650"/>
            <a:ext cx="3994404" cy="622300"/>
            <a:chOff x="678180" y="5581650"/>
            <a:chExt cx="3994404" cy="622300"/>
          </a:xfrm>
        </p:grpSpPr>
        <p:sp>
          <p:nvSpPr>
            <p:cNvPr id="13" name="TextBox 13"/>
            <p:cNvSpPr txBox="1"/>
            <p:nvPr/>
          </p:nvSpPr>
          <p:spPr>
            <a:xfrm>
              <a:off x="678180" y="5581650"/>
              <a:ext cx="3994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按入职—在职—离职—救济的劳动全周期整理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6019800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什么算重要？三条可检验的标准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重要性不是感觉，可以逐条检验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std-1"/>
          <p:cNvGrpSpPr/>
          <p:nvPr/>
        </p:nvGrpSpPr>
        <p:grpSpPr>
          <a:xfrm>
            <a:off x="669036" y="2184400"/>
            <a:ext cx="2310384" cy="1918970"/>
            <a:chOff x="669036" y="2184400"/>
            <a:chExt cx="2310384" cy="1918970"/>
          </a:xfrm>
        </p:grpSpPr>
        <p:sp>
          <p:nvSpPr>
            <p:cNvPr id="11" name="TextBox 11"/>
            <p:cNvSpPr txBox="1"/>
            <p:nvPr/>
          </p:nvSpPr>
          <p:spPr>
            <a:xfrm>
              <a:off x="669036" y="21844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2730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强制优先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200400"/>
              <a:ext cx="23012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社保缴纳、「三期」解雇保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护等规则，不允许以「自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愿」排除。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std-2"/>
          <p:cNvGrpSpPr/>
          <p:nvPr/>
        </p:nvGrpSpPr>
        <p:grpSpPr>
          <a:xfrm>
            <a:off x="4174236" y="2184400"/>
            <a:ext cx="2119884" cy="1918970"/>
            <a:chOff x="4174236" y="2184400"/>
            <a:chExt cx="2119884" cy="1918970"/>
          </a:xfrm>
        </p:grpSpPr>
        <p:sp>
          <p:nvSpPr>
            <p:cNvPr id="15" name="TextBox 15"/>
            <p:cNvSpPr txBox="1"/>
            <p:nvPr/>
          </p:nvSpPr>
          <p:spPr>
            <a:xfrm>
              <a:off x="4174236" y="21844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0332" y="27305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高频争议优先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3380" y="3200400"/>
              <a:ext cx="2110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未签书面合同、加班费、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违法解除、仲裁时效，是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实践中出现最多的争议。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std-3"/>
          <p:cNvGrpSpPr/>
          <p:nvPr/>
        </p:nvGrpSpPr>
        <p:grpSpPr>
          <a:xfrm>
            <a:off x="7679436" y="2184400"/>
            <a:ext cx="2310384" cy="1614170"/>
            <a:chOff x="7679436" y="2184400"/>
            <a:chExt cx="2310384" cy="1614170"/>
          </a:xfrm>
        </p:grpSpPr>
        <p:sp>
          <p:nvSpPr>
            <p:cNvPr id="19" name="TextBox 19"/>
            <p:cNvSpPr txBox="1"/>
            <p:nvPr/>
          </p:nvSpPr>
          <p:spPr>
            <a:xfrm>
              <a:off x="7679436" y="21844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5532" y="2730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救济优先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8580" y="3200400"/>
              <a:ext cx="2301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既写「有什么权利」，也写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「向谁主张、期限多久」。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79704" y="636270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劳动权益重要法律知识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一张表看完整条链路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406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先记框架，再记细节：六个阶段各自管什么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p03-lifecycle-quickref"/>
          <p:cNvGrpSpPr/>
          <p:nvPr/>
        </p:nvGrpSpPr>
        <p:grpSpPr>
          <a:xfrm>
            <a:off x="685800" y="1952625"/>
            <a:ext cx="11082528" cy="4219575"/>
            <a:chOff x="685800" y="1952625"/>
            <a:chExt cx="11082528" cy="4219575"/>
          </a:xfrm>
        </p:grpSpPr>
        <p:sp>
          <p:nvSpPr>
            <p:cNvPr id="11" name="Rectangle 11"/>
            <p:cNvSpPr/>
            <p:nvPr/>
          </p:nvSpPr>
          <p:spPr>
            <a:xfrm>
              <a:off x="685800" y="1952625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004" y="20574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阶段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27504" y="2057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核心问题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4004" y="2057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关键规则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66504" y="2057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主要依据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2333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5800" y="2971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85800" y="360997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5800" y="4248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85800" y="48863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85800" y="552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85800" y="616267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4004" y="241935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27504" y="241935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关系是否成立、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27504" y="260985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合同是否签订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004" y="2419350"/>
              <a:ext cx="3255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用工即建立关系；一个月内订立书面合同；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004" y="2609850"/>
              <a:ext cx="308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未签付二倍工资；试用期上限与工资底线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66504" y="234315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劳动合同法第七、十、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66504" y="253365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十四、十九、二十、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66504" y="272415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八十二条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4004" y="305752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在职·工资工时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7504" y="3057525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工资是否足额、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27504" y="324802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工时是否超限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004" y="3057525"/>
              <a:ext cx="3016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最低工资；加班费 150%/200%/300%；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004" y="3248025"/>
              <a:ext cx="1454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年休假 5/10/15 天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6504" y="3057525"/>
              <a:ext cx="2231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劳动法第四十四、四十八条；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6504" y="3248025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职工带薪年休假条例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3695700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在职·社保工伤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27504" y="369570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是否参保、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27504" y="388620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受伤如何处理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004" y="3695700"/>
              <a:ext cx="3221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用工 30 日内参保；工伤 30 日/1 年申请；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04004" y="388620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未参保由单位支付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66504" y="3695700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社会保险法第五十八条；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66504" y="388620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工伤保险条例第十七、六十二条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4004" y="433387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在职·「三期」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27504" y="4333875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特殊期间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27504" y="4524375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能否被解除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04004" y="4333875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不得依第四十、四十一条解除；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04004" y="4524375"/>
              <a:ext cx="2009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合同期满顺延；产假 98 天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66504" y="424815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劳动合同法第四十二、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66504" y="443865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四十五条；女职工劳动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66504" y="462915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保护特别规定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4004" y="497205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27504" y="497205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怎么解除、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27504" y="516255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能拿多少补偿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4004" y="4972050"/>
              <a:ext cx="2930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经济补偿 N；违法解除 2N 或继续履行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66504" y="497205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劳动合同法第四十六、四十七、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66504" y="516255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四十八、八十七条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4004" y="5610225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救济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27504" y="561022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去哪里主张、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127504" y="5800725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期限多久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04004" y="5610225"/>
              <a:ext cx="3451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仲裁时效 1 年；拖欠劳动报酬例外；举证责任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6504" y="5610225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劳动争议调解仲裁法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66504" y="5800725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第六、二十七条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679704" y="6362700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入职 · 全周期地图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用工第一天，劳动关系就已经成立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855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关系以用工为起点，不以书面合同为起点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rule-establish"/>
          <p:cNvGrpSpPr/>
          <p:nvPr/>
        </p:nvGrpSpPr>
        <p:grpSpPr>
          <a:xfrm>
            <a:off x="678180" y="2057400"/>
            <a:ext cx="2847137" cy="3892296"/>
            <a:chOff x="678180" y="2057400"/>
            <a:chExt cx="2847137" cy="3892296"/>
          </a:xfrm>
        </p:grpSpPr>
        <p:sp>
          <p:nvSpPr>
            <p:cNvPr id="11" name="TextBox 11"/>
            <p:cNvSpPr txBox="1"/>
            <p:nvPr/>
          </p:nvSpPr>
          <p:spPr>
            <a:xfrm>
              <a:off x="678180" y="20574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《劳动合同法》第七条</a:t>
              </a:r>
              <a:endParaRPr lang="zh-CN" sz="15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2419350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用人单位自用工之日起即与劳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动者建立劳动关系。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162300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第十条要求用工之日起一个月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内订立书面劳动合同。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3924300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未订立书面的，同时具备三要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素即认定关系成立：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4762500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主体资格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5067300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劳动管理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5372100"/>
              <a:ext cx="1476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业务组成部分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" y="5715000"/>
              <a:ext cx="2845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依据：劳社部发〔2005〕12 号第一条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evidence-list"/>
          <p:cNvGrpSpPr/>
          <p:nvPr/>
        </p:nvGrpSpPr>
        <p:grpSpPr>
          <a:xfrm>
            <a:off x="5932932" y="1968500"/>
            <a:ext cx="5573268" cy="3163570"/>
            <a:chOff x="5932932" y="1968500"/>
            <a:chExt cx="5573268" cy="3163570"/>
          </a:xfrm>
        </p:grpSpPr>
        <p:sp>
          <p:nvSpPr>
            <p:cNvPr id="20" name="TextBox 20"/>
            <p:cNvSpPr txBox="1"/>
            <p:nvPr/>
          </p:nvSpPr>
          <p:spPr>
            <a:xfrm>
              <a:off x="5932932" y="1968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证据清单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5943600" y="243840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35980" y="2609850"/>
              <a:ext cx="1457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工资支付凭证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5980" y="2990850"/>
              <a:ext cx="1670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工作证、服务证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35980" y="3371850"/>
              <a:ext cx="20974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招用登记表、报名表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35980" y="3752850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考勤记录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5980" y="4133850"/>
              <a:ext cx="1884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其他劳动者的证言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35980" y="4533900"/>
              <a:ext cx="2682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其中工资凭证、招用记录、考勤</a:t>
              </a:r>
              <a:b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记录由用人单位负举证责任。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79704" y="6362700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入职 · 劳动关系认定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没签书面合同，第二个月起每月多付一倍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二倍工资是差额，不是翻倍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band-double-pay"/>
          <p:cNvGrpSpPr/>
          <p:nvPr/>
        </p:nvGrpSpPr>
        <p:grpSpPr>
          <a:xfrm>
            <a:off x="669036" y="1955800"/>
            <a:ext cx="6836664" cy="1099820"/>
            <a:chOff x="669036" y="1955800"/>
            <a:chExt cx="6836664" cy="1099820"/>
          </a:xfrm>
        </p:grpSpPr>
        <p:sp>
          <p:nvSpPr>
            <p:cNvPr id="11" name="TextBox 11"/>
            <p:cNvSpPr txBox="1"/>
            <p:nvPr/>
          </p:nvSpPr>
          <p:spPr>
            <a:xfrm>
              <a:off x="669036" y="19558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20955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超过一个月不满一年未订立的，每月支付二倍工资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6380" y="2457450"/>
              <a:ext cx="598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《劳动合同法》第八十二条第一款：应当每月支付二倍的工资。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2762250"/>
              <a:ext cx="4709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二倍是正常工资之外另付一倍，属差额而非翻倍。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band-termination"/>
          <p:cNvGrpSpPr/>
          <p:nvPr/>
        </p:nvGrpSpPr>
        <p:grpSpPr>
          <a:xfrm>
            <a:off x="669036" y="3403600"/>
            <a:ext cx="8543544" cy="1099820"/>
            <a:chOff x="669036" y="3403600"/>
            <a:chExt cx="8543544" cy="1099820"/>
          </a:xfrm>
        </p:grpSpPr>
        <p:sp>
          <p:nvSpPr>
            <p:cNvPr id="16" name="TextBox 16"/>
            <p:cNvSpPr txBox="1"/>
            <p:nvPr/>
          </p:nvSpPr>
          <p:spPr>
            <a:xfrm>
              <a:off x="669036" y="34036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6380" y="3543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起算、截止与最长十一个月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6380" y="3905250"/>
              <a:ext cx="5562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实施条例第六条：自满一个月次日起算，至补订前一日止。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6380" y="42100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第七条：满一年仍未订立，支付至满一年前一日，并视为已订立无固定期限合同。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band-probation"/>
          <p:cNvGrpSpPr/>
          <p:nvPr/>
        </p:nvGrpSpPr>
        <p:grpSpPr>
          <a:xfrm>
            <a:off x="669036" y="4851400"/>
            <a:ext cx="10559796" cy="1099820"/>
            <a:chOff x="669036" y="4851400"/>
            <a:chExt cx="10559796" cy="1099820"/>
          </a:xfrm>
        </p:grpSpPr>
        <p:sp>
          <p:nvSpPr>
            <p:cNvPr id="21" name="TextBox 21"/>
            <p:cNvSpPr txBox="1"/>
            <p:nvPr/>
          </p:nvSpPr>
          <p:spPr>
            <a:xfrm>
              <a:off x="669036" y="48514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6380" y="49911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试用期上限与工资底线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6380" y="5353050"/>
              <a:ext cx="9712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上限：合同期三个月以上不满一年 1 个月、一年以上不满三年 2 个月、三年以上及无固定期限 6 个月。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380" y="5657850"/>
              <a:ext cx="9008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工资不得低于同岗位最低档或约定工资的 80%，且不得低于当地最低工资（第十九、二十条）。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62700"/>
              <a:ext cx="1915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入职 · 书面合同与试用期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812800"/>
            <a:ext cx="7519416" cy="1042670"/>
            <a:chOff x="672084" y="812800"/>
            <a:chExt cx="7519416" cy="10426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812800"/>
              <a:ext cx="642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加班费只有三档：150%、200%、300%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4495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法定节假日与工作日延时加班，不能用补休替代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overtime-tiers"/>
          <p:cNvGrpSpPr/>
          <p:nvPr/>
        </p:nvGrpSpPr>
        <p:grpSpPr>
          <a:xfrm>
            <a:off x="669036" y="2089150"/>
            <a:ext cx="4207764" cy="3631946"/>
            <a:chOff x="669036" y="2089150"/>
            <a:chExt cx="4207764" cy="3631946"/>
          </a:xfrm>
        </p:grpSpPr>
        <p:sp>
          <p:nvSpPr>
            <p:cNvPr id="11" name="TextBox 11"/>
            <p:cNvSpPr txBox="1"/>
            <p:nvPr/>
          </p:nvSpPr>
          <p:spPr>
            <a:xfrm>
              <a:off x="669036" y="2089150"/>
              <a:ext cx="1160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150%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3630" y="2190750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延长工作时间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5154" y="247650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工作日加点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2857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9036" y="2984500"/>
              <a:ext cx="1160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200%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3630" y="3086100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休息日加班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5154" y="337185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不能安排补休时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7528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9036" y="3879850"/>
              <a:ext cx="1160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300%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3630" y="3981450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法定节假日加班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5154" y="426720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不能用补休替代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180" y="4857750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《劳动法》第四十四条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523875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工资不得低于当地最低工资标准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548640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（第四十八条）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overtime-evidence"/>
          <p:cNvGrpSpPr/>
          <p:nvPr/>
        </p:nvGrpSpPr>
        <p:grpSpPr>
          <a:xfrm>
            <a:off x="5247132" y="1968500"/>
            <a:ext cx="6259068" cy="3752596"/>
            <a:chOff x="5247132" y="1968500"/>
            <a:chExt cx="6259068" cy="3752596"/>
          </a:xfrm>
        </p:grpSpPr>
        <p:sp>
          <p:nvSpPr>
            <p:cNvPr id="26" name="TextBox 26"/>
            <p:cNvSpPr txBox="1"/>
            <p:nvPr/>
          </p:nvSpPr>
          <p:spPr>
            <a:xfrm>
              <a:off x="5247132" y="196850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先固定证据，再谈计算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5257800" y="2438400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0" y="0"/>
                  </a:moveTo>
                  <a:lnTo>
                    <a:pt x="624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0180" y="2628900"/>
              <a:ext cx="1884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考勤记录与排班表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0180" y="3009900"/>
              <a:ext cx="2524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加班审批单、工作群通知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50180" y="3390900"/>
              <a:ext cx="1884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工资条与银行流水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0180" y="3848100"/>
              <a:ext cx="2682240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劳动者应就加班事实举证；但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有证据证明单位掌握相关证据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而不提供的，由单位承担不利后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果。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1704" y="5486400"/>
              <a:ext cx="3255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依据：《劳动争议解释（一）》第四十二条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79704" y="6362700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在职 · 工资与工时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812800"/>
            <a:ext cx="7519416" cy="1042670"/>
            <a:chOff x="672084" y="812800"/>
            <a:chExt cx="7519416" cy="10426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812800"/>
              <a:ext cx="72502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年假 5/10/15 天，没休按日工资 300% 折算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727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300% 里已含正常工资，实际另付 200%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leave-axis"/>
          <p:cNvGrpSpPr/>
          <p:nvPr/>
        </p:nvGrpSpPr>
        <p:grpSpPr>
          <a:xfrm>
            <a:off x="685800" y="2546350"/>
            <a:ext cx="10820400" cy="1385570"/>
            <a:chOff x="685800" y="2546350"/>
            <a:chExt cx="10820400" cy="1385570"/>
          </a:xfrm>
        </p:grpSpPr>
        <p:sp>
          <p:nvSpPr>
            <p:cNvPr id="11" name="Line 11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905000" y="3238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248400" y="3238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591800" y="3238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66621" y="2546350"/>
              <a:ext cx="8767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 天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0939" y="2546350"/>
              <a:ext cx="1134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 天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24339" y="2546350"/>
              <a:ext cx="1134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 天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942" y="3638550"/>
              <a:ext cx="169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 1 年不满 10 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4668" y="3638550"/>
              <a:ext cx="1807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 10 年不满 20 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89464" y="3638550"/>
              <a:ext cx="804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 20 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leave-rule"/>
          <p:cNvGrpSpPr/>
          <p:nvPr/>
        </p:nvGrpSpPr>
        <p:grpSpPr>
          <a:xfrm>
            <a:off x="678180" y="4686300"/>
            <a:ext cx="5987796" cy="1130046"/>
            <a:chOff x="678180" y="4686300"/>
            <a:chExt cx="5987796" cy="1130046"/>
          </a:xfrm>
        </p:grpSpPr>
        <p:sp>
          <p:nvSpPr>
            <p:cNvPr id="22" name="TextBox 22"/>
            <p:cNvSpPr txBox="1"/>
            <p:nvPr/>
          </p:nvSpPr>
          <p:spPr>
            <a:xfrm>
              <a:off x="678180" y="46863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未休折算：《职工带薪年休假条例》第五条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180" y="5003800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按日工资收入的 300% 支付；实施办法第十条明确该 300%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包含正常工作期间的工资收入，即另行支付 200%。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5581650"/>
              <a:ext cx="59862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年休假是法定权利，不是公司福利；累计工作年限按同一或不同单位合并计算。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62700"/>
              <a:ext cx="1061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在职 · 年休假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社保是强制义务，「自愿放弃」的约定无效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强制性保护不能被「自愿」排除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social-force"/>
          <p:cNvGrpSpPr/>
          <p:nvPr/>
        </p:nvGrpSpPr>
        <p:grpSpPr>
          <a:xfrm>
            <a:off x="678180" y="2133600"/>
            <a:ext cx="8122920" cy="998220"/>
            <a:chOff x="678180" y="2133600"/>
            <a:chExt cx="8122920" cy="998220"/>
          </a:xfrm>
        </p:grpSpPr>
        <p:sp>
          <p:nvSpPr>
            <p:cNvPr id="11" name="TextBox 11"/>
            <p:cNvSpPr txBox="1"/>
            <p:nvPr/>
          </p:nvSpPr>
          <p:spPr>
            <a:xfrm>
              <a:off x="678180" y="21336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《社会保险法》第五十八条</a:t>
              </a:r>
              <a:endParaRPr lang="zh-CN" sz="15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2495550"/>
              <a:ext cx="598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用人单位应当自用工之日起三十日内为职工办理社会保险登记。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2838450"/>
              <a:ext cx="8122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第六十条：应当自行申报、按时足额缴纳；非因不可抗力等法定事由不得缓缴、减免。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social-void"/>
          <p:cNvGrpSpPr/>
          <p:nvPr/>
        </p:nvGrpSpPr>
        <p:grpSpPr>
          <a:xfrm>
            <a:off x="675132" y="3600450"/>
            <a:ext cx="9130284" cy="779018"/>
            <a:chOff x="675132" y="3600450"/>
            <a:chExt cx="9130284" cy="779018"/>
          </a:xfrm>
        </p:grpSpPr>
        <p:sp>
          <p:nvSpPr>
            <p:cNvPr id="15" name="TextBox 15"/>
            <p:cNvSpPr txBox="1"/>
            <p:nvPr/>
          </p:nvSpPr>
          <p:spPr>
            <a:xfrm>
              <a:off x="678180" y="3600450"/>
              <a:ext cx="4922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用人单位与劳动者约定、或劳动者承诺无需缴纳的，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132" y="39687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「自愿放弃社保」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2582" y="39687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strike="sngStrike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无效</a:t>
              </a:r>
              <a:endParaRPr lang="zh-CN" sz="2100" strike="sngStrike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5082" y="39687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，应当认定无效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904" y="4095750"/>
              <a:ext cx="2572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《劳动争议解释（二）》第十九条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remedy-rescind"/>
          <p:cNvGrpSpPr/>
          <p:nvPr/>
        </p:nvGrpSpPr>
        <p:grpSpPr>
          <a:xfrm>
            <a:off x="678180" y="4857750"/>
            <a:ext cx="3063240" cy="1206246"/>
            <a:chOff x="678180" y="4857750"/>
            <a:chExt cx="3063240" cy="1206246"/>
          </a:xfrm>
        </p:grpSpPr>
        <p:sp>
          <p:nvSpPr>
            <p:cNvPr id="21" name="TextBox 21"/>
            <p:cNvSpPr txBox="1"/>
            <p:nvPr/>
          </p:nvSpPr>
          <p:spPr>
            <a:xfrm>
              <a:off x="678180" y="4857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未依法缴纳，可以先解除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180" y="5105400"/>
              <a:ext cx="3063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依《劳动合同法》第三十八条第一款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第三项解除劳动合同。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582930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无需单位同意，但应保留社保未缴记录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remedy-compensation"/>
          <p:cNvGrpSpPr/>
          <p:nvPr/>
        </p:nvGrpSpPr>
        <p:grpSpPr>
          <a:xfrm>
            <a:off x="5935980" y="4857750"/>
            <a:ext cx="3855720" cy="939546"/>
            <a:chOff x="5935980" y="4857750"/>
            <a:chExt cx="3855720" cy="939546"/>
          </a:xfrm>
        </p:grpSpPr>
        <p:sp>
          <p:nvSpPr>
            <p:cNvPr id="25" name="TextBox 25"/>
            <p:cNvSpPr txBox="1"/>
            <p:nvPr/>
          </p:nvSpPr>
          <p:spPr>
            <a:xfrm>
              <a:off x="5935980" y="4857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解除之后，主张经济补偿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5980" y="5219700"/>
              <a:ext cx="3855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依第四十六条第一项要求支付经济补偿。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37504" y="5562600"/>
              <a:ext cx="2862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补偿标准按工作年限计算，见第 11 页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79704" y="636270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在职 · 社会保险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812800"/>
            <a:ext cx="7519416" cy="1042670"/>
            <a:chOff x="672084" y="812800"/>
            <a:chExt cx="7519416" cy="10426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812800"/>
              <a:ext cx="58471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工伤认定：单位 30 日，劳动者 1 年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855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两个期限都不等人，过期就丢掉认定资格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injury-timeline"/>
          <p:cNvGrpSpPr/>
          <p:nvPr/>
        </p:nvGrpSpPr>
        <p:grpSpPr>
          <a:xfrm>
            <a:off x="1136904" y="2451100"/>
            <a:ext cx="9531096" cy="1593596"/>
            <a:chOff x="1136904" y="2451100"/>
            <a:chExt cx="9531096" cy="1593596"/>
          </a:xfrm>
        </p:grpSpPr>
        <p:sp>
          <p:nvSpPr>
            <p:cNvPr id="11" name="Line 11"/>
            <p:cNvSpPr/>
            <p:nvPr/>
          </p:nvSpPr>
          <p:spPr>
            <a:xfrm>
              <a:off x="1143000" y="3238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333750" y="3143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096250" y="3143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61539" y="2451100"/>
              <a:ext cx="11349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30 日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53121" y="2451100"/>
              <a:ext cx="8767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 年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54580" y="3467100"/>
              <a:ext cx="2148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用人单位申请工伤认定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7040" y="3467100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职工、近亲属或工会直接申请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904" y="3810000"/>
              <a:ext cx="430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自事故伤害发生之日起计算 · 《工伤保险条例》第十七条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injury-branch"/>
          <p:cNvGrpSpPr/>
          <p:nvPr/>
        </p:nvGrpSpPr>
        <p:grpSpPr>
          <a:xfrm>
            <a:off x="678180" y="4495800"/>
            <a:ext cx="7227570" cy="1263396"/>
            <a:chOff x="678180" y="4495800"/>
            <a:chExt cx="7227570" cy="1263396"/>
          </a:xfrm>
        </p:grpSpPr>
        <p:sp>
          <p:nvSpPr>
            <p:cNvPr id="20" name="TextBox 20"/>
            <p:cNvSpPr txBox="1"/>
            <p:nvPr/>
          </p:nvSpPr>
          <p:spPr>
            <a:xfrm>
              <a:off x="678180" y="44958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单位没参保怎么办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4838700"/>
              <a:ext cx="314325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680" y="4972050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由单位按条例规定的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8680" y="5257800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项目和标准支付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204" y="552450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第六十二条第二款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0332" y="50419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62500" y="4838700"/>
              <a:ext cx="314325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45380" y="4972050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单位不支付的，由工伤保险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5380" y="5257800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基金先行支付后追偿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46904" y="5524500"/>
              <a:ext cx="2060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《社会保险法》第四十一条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79704" y="636270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在职 · 工伤认定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660386" cy="1068070"/>
            <a:chOff x="672084" y="787400"/>
            <a:chExt cx="766038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「三期」女职工：不能依第四十、四十一条解除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合同期满也要顺延至相应情形消失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maternity-ban"/>
          <p:cNvGrpSpPr/>
          <p:nvPr/>
        </p:nvGrpSpPr>
        <p:grpSpPr>
          <a:xfrm>
            <a:off x="675132" y="2397125"/>
            <a:ext cx="2113788" cy="3019171"/>
            <a:chOff x="675132" y="2397125"/>
            <a:chExt cx="2113788" cy="3019171"/>
          </a:xfrm>
        </p:grpSpPr>
        <p:sp>
          <p:nvSpPr>
            <p:cNvPr id="11" name="Freeform 11"/>
            <p:cNvSpPr/>
            <p:nvPr/>
          </p:nvSpPr>
          <p:spPr>
            <a:xfrm>
              <a:off x="712818" y="2397125"/>
              <a:ext cx="365046" cy="349436"/>
            </a:xfrm>
            <a:custGeom>
              <a:avLst/>
              <a:gdLst/>
              <a:ahLst/>
              <a:cxnLst/>
              <a:rect l="l" t="t" r="r" b="b"/>
              <a:pathLst>
                <a:path w="365046" h="349436">
                  <a:moveTo>
                    <a:pt x="180506" y="122"/>
                  </a:moveTo>
                  <a:lnTo>
                    <a:pt x="182497" y="0"/>
                  </a:lnTo>
                  <a:lnTo>
                    <a:pt x="184557" y="122"/>
                  </a:lnTo>
                  <a:lnTo>
                    <a:pt x="185588" y="262"/>
                  </a:lnTo>
                  <a:lnTo>
                    <a:pt x="186653" y="489"/>
                  </a:lnTo>
                  <a:lnTo>
                    <a:pt x="188591" y="1083"/>
                  </a:lnTo>
                  <a:cubicBezTo>
                    <a:pt x="189930" y="1576"/>
                    <a:pt x="191203" y="2233"/>
                    <a:pt x="192380" y="3038"/>
                  </a:cubicBezTo>
                  <a:lnTo>
                    <a:pt x="194197" y="4470"/>
                  </a:lnTo>
                  <a:lnTo>
                    <a:pt x="198649" y="8277"/>
                  </a:lnTo>
                  <a:cubicBezTo>
                    <a:pt x="233877" y="37537"/>
                    <a:pt x="278398" y="53248"/>
                    <a:pt x="324187" y="52579"/>
                  </a:cubicBezTo>
                  <a:lnTo>
                    <a:pt x="330159" y="52405"/>
                  </a:lnTo>
                  <a:cubicBezTo>
                    <a:pt x="338195" y="52038"/>
                    <a:pt x="345441" y="57208"/>
                    <a:pt x="347709" y="64925"/>
                  </a:cubicBezTo>
                  <a:cubicBezTo>
                    <a:pt x="365046" y="123901"/>
                    <a:pt x="357725" y="187386"/>
                    <a:pt x="327420" y="240868"/>
                  </a:cubicBezTo>
                  <a:cubicBezTo>
                    <a:pt x="297115" y="294350"/>
                    <a:pt x="246416" y="333255"/>
                    <a:pt x="186915" y="348691"/>
                  </a:cubicBezTo>
                  <a:cubicBezTo>
                    <a:pt x="184040" y="349436"/>
                    <a:pt x="181023" y="349436"/>
                    <a:pt x="178149" y="348691"/>
                  </a:cubicBezTo>
                  <a:cubicBezTo>
                    <a:pt x="118644" y="333259"/>
                    <a:pt x="67941" y="294355"/>
                    <a:pt x="37632" y="240873"/>
                  </a:cubicBezTo>
                  <a:cubicBezTo>
                    <a:pt x="7323" y="187391"/>
                    <a:pt x="0" y="123903"/>
                    <a:pt x="17337" y="64925"/>
                  </a:cubicBezTo>
                  <a:cubicBezTo>
                    <a:pt x="19605" y="57208"/>
                    <a:pt x="26851" y="52038"/>
                    <a:pt x="34886" y="52405"/>
                  </a:cubicBezTo>
                  <a:cubicBezTo>
                    <a:pt x="82689" y="54590"/>
                    <a:pt x="129587" y="38854"/>
                    <a:pt x="166396" y="8277"/>
                  </a:cubicBezTo>
                  <a:lnTo>
                    <a:pt x="170989" y="4348"/>
                  </a:lnTo>
                  <a:lnTo>
                    <a:pt x="172665" y="3038"/>
                  </a:lnTo>
                  <a:cubicBezTo>
                    <a:pt x="173843" y="2233"/>
                    <a:pt x="175116" y="1576"/>
                    <a:pt x="176455" y="1083"/>
                  </a:cubicBezTo>
                  <a:lnTo>
                    <a:pt x="178410" y="489"/>
                  </a:lnTo>
                  <a:cubicBezTo>
                    <a:pt x="179095" y="324"/>
                    <a:pt x="179789" y="201"/>
                    <a:pt x="180488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5132" y="29210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禁止解除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3909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不得依第四十条、第四十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一条解除劳动合同。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2672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不得因怀孕、生育、哺乳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降低工资或予以辞退。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" y="518160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第四十二条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maternity-extend"/>
          <p:cNvGrpSpPr/>
          <p:nvPr/>
        </p:nvGrpSpPr>
        <p:grpSpPr>
          <a:xfrm>
            <a:off x="4180332" y="2396633"/>
            <a:ext cx="2113788" cy="3019663"/>
            <a:chOff x="4180332" y="2396633"/>
            <a:chExt cx="2113788" cy="3019663"/>
          </a:xfrm>
        </p:grpSpPr>
        <p:grpSp>
          <p:nvGrpSpPr>
            <p:cNvPr id="19" name="Group 19"/>
            <p:cNvGrpSpPr/>
            <p:nvPr/>
          </p:nvGrpSpPr>
          <p:grpSpPr>
            <a:xfrm>
              <a:off x="4243386" y="2396633"/>
              <a:ext cx="314328" cy="349743"/>
              <a:chOff x="4243386" y="2396633"/>
              <a:chExt cx="314328" cy="34974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243386" y="2396633"/>
                <a:ext cx="314328" cy="349743"/>
              </a:xfrm>
              <a:custGeom>
                <a:avLst/>
                <a:gdLst/>
                <a:ahLst/>
                <a:cxnLst/>
                <a:rect l="l" t="t" r="r" b="b"/>
                <a:pathLst>
                  <a:path w="314328" h="349743">
                    <a:moveTo>
                      <a:pt x="227014" y="492"/>
                    </a:moveTo>
                    <a:cubicBezTo>
                      <a:pt x="235867" y="493"/>
                      <a:pt x="243318" y="7119"/>
                      <a:pt x="244354" y="15911"/>
                    </a:cubicBezTo>
                    <a:lnTo>
                      <a:pt x="244476" y="17955"/>
                    </a:lnTo>
                    <a:lnTo>
                      <a:pt x="244476" y="35417"/>
                    </a:lnTo>
                    <a:lnTo>
                      <a:pt x="261939" y="35417"/>
                    </a:lnTo>
                    <a:cubicBezTo>
                      <a:pt x="289679" y="35415"/>
                      <a:pt x="312611" y="57039"/>
                      <a:pt x="314239" y="84731"/>
                    </a:cubicBezTo>
                    <a:lnTo>
                      <a:pt x="314326" y="87804"/>
                    </a:lnTo>
                    <a:lnTo>
                      <a:pt x="314326" y="297354"/>
                    </a:lnTo>
                    <a:cubicBezTo>
                      <a:pt x="314328" y="325094"/>
                      <a:pt x="292704" y="348027"/>
                      <a:pt x="265012" y="349654"/>
                    </a:cubicBezTo>
                    <a:lnTo>
                      <a:pt x="261939" y="349741"/>
                    </a:lnTo>
                    <a:lnTo>
                      <a:pt x="52389" y="349741"/>
                    </a:lnTo>
                    <a:cubicBezTo>
                      <a:pt x="24649" y="349743"/>
                      <a:pt x="1716" y="328120"/>
                      <a:pt x="89" y="300427"/>
                    </a:cubicBezTo>
                    <a:lnTo>
                      <a:pt x="2" y="297354"/>
                    </a:lnTo>
                    <a:lnTo>
                      <a:pt x="2" y="87804"/>
                    </a:lnTo>
                    <a:cubicBezTo>
                      <a:pt x="0" y="60064"/>
                      <a:pt x="21623" y="37132"/>
                      <a:pt x="49316" y="35504"/>
                    </a:cubicBezTo>
                    <a:lnTo>
                      <a:pt x="52389" y="35417"/>
                    </a:lnTo>
                    <a:lnTo>
                      <a:pt x="69851" y="35417"/>
                    </a:lnTo>
                    <a:lnTo>
                      <a:pt x="69851" y="17955"/>
                    </a:lnTo>
                    <a:cubicBezTo>
                      <a:pt x="69862" y="8715"/>
                      <a:pt x="77067" y="1083"/>
                      <a:pt x="86290" y="541"/>
                    </a:cubicBezTo>
                    <a:cubicBezTo>
                      <a:pt x="95514" y="0"/>
                      <a:pt x="103563" y="6737"/>
                      <a:pt x="104654" y="15911"/>
                    </a:cubicBezTo>
                    <a:lnTo>
                      <a:pt x="104776" y="17955"/>
                    </a:lnTo>
                    <a:lnTo>
                      <a:pt x="104776" y="35417"/>
                    </a:lnTo>
                    <a:lnTo>
                      <a:pt x="209551" y="35417"/>
                    </a:lnTo>
                    <a:lnTo>
                      <a:pt x="209551" y="17955"/>
                    </a:lnTo>
                    <a:cubicBezTo>
                      <a:pt x="209551" y="8310"/>
                      <a:pt x="217369" y="492"/>
                      <a:pt x="227014" y="492"/>
                    </a:cubicBezTo>
                    <a:close/>
                    <a:moveTo>
                      <a:pt x="279401" y="122729"/>
                    </a:moveTo>
                    <a:lnTo>
                      <a:pt x="34926" y="122729"/>
                    </a:lnTo>
                    <a:lnTo>
                      <a:pt x="34926" y="290806"/>
                    </a:lnTo>
                    <a:cubicBezTo>
                      <a:pt x="34926" y="303117"/>
                      <a:pt x="41667" y="313262"/>
                      <a:pt x="50346" y="314659"/>
                    </a:cubicBezTo>
                    <a:lnTo>
                      <a:pt x="52389" y="314817"/>
                    </a:lnTo>
                    <a:lnTo>
                      <a:pt x="261939" y="314817"/>
                    </a:lnTo>
                    <a:cubicBezTo>
                      <a:pt x="270897" y="314817"/>
                      <a:pt x="278283" y="305561"/>
                      <a:pt x="279279" y="293600"/>
                    </a:cubicBezTo>
                    <a:lnTo>
                      <a:pt x="279401" y="290806"/>
                    </a:lnTo>
                    <a:lnTo>
                      <a:pt x="279401" y="1227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365133" y="2571750"/>
                <a:ext cx="52879" cy="87804"/>
              </a:xfrm>
              <a:custGeom>
                <a:avLst/>
                <a:gdLst/>
                <a:ahLst/>
                <a:cxnLst/>
                <a:rect l="l" t="t" r="r" b="b"/>
                <a:pathLst>
                  <a:path w="52879" h="87804">
                    <a:moveTo>
                      <a:pt x="35417" y="0"/>
                    </a:moveTo>
                    <a:cubicBezTo>
                      <a:pt x="44270" y="1"/>
                      <a:pt x="51721" y="6627"/>
                      <a:pt x="52757" y="15419"/>
                    </a:cubicBezTo>
                    <a:lnTo>
                      <a:pt x="52879" y="17462"/>
                    </a:lnTo>
                    <a:lnTo>
                      <a:pt x="52879" y="69850"/>
                    </a:lnTo>
                    <a:cubicBezTo>
                      <a:pt x="52869" y="79089"/>
                      <a:pt x="45664" y="86721"/>
                      <a:pt x="36440" y="87263"/>
                    </a:cubicBezTo>
                    <a:cubicBezTo>
                      <a:pt x="27217" y="87804"/>
                      <a:pt x="19168" y="81068"/>
                      <a:pt x="18077" y="71893"/>
                    </a:cubicBezTo>
                    <a:lnTo>
                      <a:pt x="17955" y="69850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80332" y="29210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合同顺延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3380" y="33909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合同期满的，应当续延至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相应情形消失时终止。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3380" y="42672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顺延期间仍是有效劳动关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系，社保不得中断。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4904" y="518160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第四十五条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maternity-leave"/>
          <p:cNvGrpSpPr/>
          <p:nvPr/>
        </p:nvGrpSpPr>
        <p:grpSpPr>
          <a:xfrm>
            <a:off x="7685532" y="2397125"/>
            <a:ext cx="3089148" cy="3019171"/>
            <a:chOff x="7685532" y="2397125"/>
            <a:chExt cx="3089148" cy="3019171"/>
          </a:xfrm>
        </p:grpSpPr>
        <p:sp>
          <p:nvSpPr>
            <p:cNvPr id="25" name="Freeform 25"/>
            <p:cNvSpPr/>
            <p:nvPr/>
          </p:nvSpPr>
          <p:spPr>
            <a:xfrm>
              <a:off x="7713662" y="2397125"/>
              <a:ext cx="350793" cy="353576"/>
            </a:xfrm>
            <a:custGeom>
              <a:avLst/>
              <a:gdLst/>
              <a:ahLst/>
              <a:cxnLst/>
              <a:rect l="l" t="t" r="r" b="b"/>
              <a:pathLst>
                <a:path w="350793" h="353576">
                  <a:moveTo>
                    <a:pt x="235743" y="0"/>
                  </a:moveTo>
                  <a:cubicBezTo>
                    <a:pt x="266932" y="1"/>
                    <a:pt x="296746" y="12835"/>
                    <a:pt x="318183" y="35488"/>
                  </a:cubicBezTo>
                  <a:cubicBezTo>
                    <a:pt x="339621" y="58141"/>
                    <a:pt x="350793" y="88616"/>
                    <a:pt x="349075" y="119758"/>
                  </a:cubicBezTo>
                  <a:cubicBezTo>
                    <a:pt x="349436" y="122431"/>
                    <a:pt x="349198" y="125151"/>
                    <a:pt x="348376" y="127720"/>
                  </a:cubicBezTo>
                  <a:cubicBezTo>
                    <a:pt x="343416" y="166782"/>
                    <a:pt x="318595" y="200494"/>
                    <a:pt x="282770" y="216831"/>
                  </a:cubicBezTo>
                  <a:lnTo>
                    <a:pt x="292060" y="244684"/>
                  </a:lnTo>
                  <a:cubicBezTo>
                    <a:pt x="293631" y="244544"/>
                    <a:pt x="295232" y="244475"/>
                    <a:pt x="296862" y="244475"/>
                  </a:cubicBezTo>
                  <a:cubicBezTo>
                    <a:pt x="325795" y="244475"/>
                    <a:pt x="349249" y="267929"/>
                    <a:pt x="349249" y="296862"/>
                  </a:cubicBezTo>
                  <a:cubicBezTo>
                    <a:pt x="349249" y="325795"/>
                    <a:pt x="325795" y="349249"/>
                    <a:pt x="296862" y="349249"/>
                  </a:cubicBezTo>
                  <a:cubicBezTo>
                    <a:pt x="267929" y="349249"/>
                    <a:pt x="244475" y="325795"/>
                    <a:pt x="244475" y="296862"/>
                  </a:cubicBezTo>
                  <a:lnTo>
                    <a:pt x="244562" y="293789"/>
                  </a:lnTo>
                  <a:cubicBezTo>
                    <a:pt x="245323" y="280804"/>
                    <a:pt x="250888" y="268566"/>
                    <a:pt x="260173" y="259457"/>
                  </a:cubicBezTo>
                  <a:lnTo>
                    <a:pt x="249102" y="226226"/>
                  </a:lnTo>
                  <a:cubicBezTo>
                    <a:pt x="244713" y="226750"/>
                    <a:pt x="240260" y="227012"/>
                    <a:pt x="235743" y="227012"/>
                  </a:cubicBezTo>
                  <a:lnTo>
                    <a:pt x="189031" y="227012"/>
                  </a:lnTo>
                  <a:cubicBezTo>
                    <a:pt x="182663" y="227012"/>
                    <a:pt x="176400" y="226529"/>
                    <a:pt x="170242" y="225563"/>
                  </a:cubicBezTo>
                  <a:lnTo>
                    <a:pt x="158926" y="259457"/>
                  </a:lnTo>
                  <a:cubicBezTo>
                    <a:pt x="175894" y="276105"/>
                    <a:pt x="179527" y="302092"/>
                    <a:pt x="167773" y="322754"/>
                  </a:cubicBezTo>
                  <a:cubicBezTo>
                    <a:pt x="156020" y="343417"/>
                    <a:pt x="131827" y="353576"/>
                    <a:pt x="108846" y="347499"/>
                  </a:cubicBezTo>
                  <a:cubicBezTo>
                    <a:pt x="85864" y="341422"/>
                    <a:pt x="69854" y="320634"/>
                    <a:pt x="69850" y="296862"/>
                  </a:cubicBezTo>
                  <a:lnTo>
                    <a:pt x="69920" y="293789"/>
                  </a:lnTo>
                  <a:cubicBezTo>
                    <a:pt x="70750" y="279616"/>
                    <a:pt x="77296" y="266387"/>
                    <a:pt x="88060" y="257130"/>
                  </a:cubicBezTo>
                  <a:cubicBezTo>
                    <a:pt x="98825" y="247874"/>
                    <a:pt x="112885" y="243382"/>
                    <a:pt x="127022" y="244684"/>
                  </a:cubicBezTo>
                  <a:lnTo>
                    <a:pt x="136801" y="215312"/>
                  </a:lnTo>
                  <a:cubicBezTo>
                    <a:pt x="106620" y="201060"/>
                    <a:pt x="83579" y="175085"/>
                    <a:pt x="73028" y="143419"/>
                  </a:cubicBezTo>
                  <a:lnTo>
                    <a:pt x="48546" y="69850"/>
                  </a:lnTo>
                  <a:lnTo>
                    <a:pt x="17462" y="69850"/>
                  </a:lnTo>
                  <a:cubicBezTo>
                    <a:pt x="8609" y="69849"/>
                    <a:pt x="1158" y="63223"/>
                    <a:pt x="122" y="54431"/>
                  </a:cubicBezTo>
                  <a:lnTo>
                    <a:pt x="0" y="52387"/>
                  </a:lnTo>
                  <a:cubicBezTo>
                    <a:pt x="0" y="42743"/>
                    <a:pt x="7818" y="34925"/>
                    <a:pt x="17462" y="34925"/>
                  </a:cubicBezTo>
                  <a:lnTo>
                    <a:pt x="61119" y="34925"/>
                  </a:lnTo>
                  <a:cubicBezTo>
                    <a:pt x="68638" y="34923"/>
                    <a:pt x="75314" y="39735"/>
                    <a:pt x="77691" y="46869"/>
                  </a:cubicBezTo>
                  <a:lnTo>
                    <a:pt x="96969" y="104775"/>
                  </a:lnTo>
                  <a:lnTo>
                    <a:pt x="209550" y="104775"/>
                  </a:lnTo>
                  <a:lnTo>
                    <a:pt x="209550" y="17462"/>
                  </a:lnTo>
                  <a:cubicBezTo>
                    <a:pt x="209550" y="7818"/>
                    <a:pt x="217368" y="0"/>
                    <a:pt x="227012" y="0"/>
                  </a:cubicBezTo>
                  <a:close/>
                  <a:moveTo>
                    <a:pt x="122237" y="279399"/>
                  </a:moveTo>
                  <a:cubicBezTo>
                    <a:pt x="112593" y="279399"/>
                    <a:pt x="104775" y="287218"/>
                    <a:pt x="104775" y="296862"/>
                  </a:cubicBezTo>
                  <a:cubicBezTo>
                    <a:pt x="104775" y="306506"/>
                    <a:pt x="112593" y="314324"/>
                    <a:pt x="122237" y="314324"/>
                  </a:cubicBezTo>
                  <a:cubicBezTo>
                    <a:pt x="131882" y="314324"/>
                    <a:pt x="139700" y="306506"/>
                    <a:pt x="139700" y="296862"/>
                  </a:cubicBezTo>
                  <a:cubicBezTo>
                    <a:pt x="139700" y="287218"/>
                    <a:pt x="131882" y="279399"/>
                    <a:pt x="122237" y="279399"/>
                  </a:cubicBezTo>
                  <a:moveTo>
                    <a:pt x="296862" y="279399"/>
                  </a:moveTo>
                  <a:cubicBezTo>
                    <a:pt x="287218" y="279399"/>
                    <a:pt x="279399" y="287218"/>
                    <a:pt x="279399" y="296862"/>
                  </a:cubicBezTo>
                  <a:cubicBezTo>
                    <a:pt x="279399" y="306506"/>
                    <a:pt x="287218" y="314324"/>
                    <a:pt x="296862" y="314324"/>
                  </a:cubicBezTo>
                  <a:cubicBezTo>
                    <a:pt x="306506" y="314324"/>
                    <a:pt x="314324" y="306506"/>
                    <a:pt x="314324" y="296862"/>
                  </a:cubicBezTo>
                  <a:cubicBezTo>
                    <a:pt x="314324" y="287218"/>
                    <a:pt x="306506" y="279399"/>
                    <a:pt x="296862" y="27939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85532" y="2933700"/>
              <a:ext cx="13772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产假 98 天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8580" y="33909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产假九十八天；产前检查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所需时间计入劳动时间。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8580" y="4267200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地方奖励假、生育津贴以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当地规定为准。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90104" y="5181600"/>
              <a:ext cx="308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女职工劳动保护特别规定第五、六、七条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79704" y="6362700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在职 · 「三期」保护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812800"/>
            <a:ext cx="7519416" cy="1042670"/>
            <a:chOff x="672084" y="812800"/>
            <a:chExt cx="7519416" cy="10426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812800"/>
              <a:ext cx="55124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经济补偿 N：每满一年一个月工资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428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不是所有离职都有补偿，先看情形，再看算法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p11-severance-compare"/>
          <p:cNvGrpSpPr/>
          <p:nvPr/>
        </p:nvGrpSpPr>
        <p:grpSpPr>
          <a:xfrm>
            <a:off x="685800" y="1952625"/>
            <a:ext cx="10820400" cy="3362325"/>
            <a:chOff x="685800" y="1952625"/>
            <a:chExt cx="10820400" cy="3362325"/>
          </a:xfrm>
        </p:grpSpPr>
        <p:sp>
          <p:nvSpPr>
            <p:cNvPr id="11" name="Rectangle 11"/>
            <p:cNvSpPr/>
            <p:nvPr/>
          </p:nvSpPr>
          <p:spPr>
            <a:xfrm>
              <a:off x="685800" y="1952625"/>
              <a:ext cx="108204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004" y="2057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离职情形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4004" y="2057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主要依据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04504" y="2057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补偿或赔偿</a:t>
              </a:r>
              <a:endParaRPr lang="zh-CN" sz="12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2333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85800" y="28289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5800" y="33242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85800" y="38195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5800" y="43148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85800" y="48101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85800" y="53054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4004" y="247650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协商一致解除（用人单位提出）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004" y="247650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第三十六条、第四十六条第二项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04504" y="2476500"/>
              <a:ext cx="126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4004" y="2971800"/>
              <a:ext cx="3255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劳动者被迫解除（未付报酬、未缴社保等）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004" y="297180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第三十八条、第四十六条第一项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4504" y="2971800"/>
              <a:ext cx="126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4004" y="339090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无过失性辞退（医疗期满、不能胜任、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4004" y="35814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客观情况重大变化）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004" y="3390900"/>
              <a:ext cx="171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第四十条、第四十六条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004" y="3581400"/>
              <a:ext cx="524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04504" y="3390900"/>
              <a:ext cx="1497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N+1（未提前 30 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4504" y="3581400"/>
              <a:ext cx="524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004" y="396240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经济性裁员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004" y="3962400"/>
              <a:ext cx="240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第四十一条、第四十六条第四项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04504" y="3962400"/>
              <a:ext cx="126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004" y="445770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违法解除或者终止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004" y="4457700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第四十八条、第八十七条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04504" y="4457700"/>
              <a:ext cx="1326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2N 或者继续履行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4004" y="495300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合同期满终止（单位不续订或降低条件续订）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004" y="495300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第四十四条第一项、第四十六条第五项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04504" y="4953000"/>
              <a:ext cx="126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</a:t>
              </a:r>
              <a:endPara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severance-calc"/>
          <p:cNvGrpSpPr/>
          <p:nvPr/>
        </p:nvGrpSpPr>
        <p:grpSpPr>
          <a:xfrm>
            <a:off x="678180" y="5556250"/>
            <a:ext cx="6301740" cy="579120"/>
            <a:chOff x="678180" y="5556250"/>
            <a:chExt cx="6301740" cy="579120"/>
          </a:xfrm>
        </p:grpSpPr>
        <p:sp>
          <p:nvSpPr>
            <p:cNvPr id="44" name="TextBox 44"/>
            <p:cNvSpPr txBox="1"/>
            <p:nvPr/>
          </p:nvSpPr>
          <p:spPr>
            <a:xfrm>
              <a:off x="678180" y="5556250"/>
              <a:ext cx="6301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算法：每满一年一个月；六个月以上不满一年按一年；不满六个月半个月；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月工资高于当地上年度职工月平均工资三倍的按三倍、年限最高 12 年。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79704" y="6400800"/>
            <a:ext cx="10832592" cy="234696"/>
            <a:chOff x="679704" y="6400800"/>
            <a:chExt cx="108325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79704" y="640080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离职 · 经济补偿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12347" y="64008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812800"/>
            <a:ext cx="7519416" cy="1042670"/>
            <a:chOff x="672084" y="812800"/>
            <a:chExt cx="7519416" cy="10426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812800"/>
              <a:ext cx="65260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违法解除是 2N，N+1 的「1」不是补偿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三者适用情形不同，不能简单相加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term-N"/>
          <p:cNvGrpSpPr/>
          <p:nvPr/>
        </p:nvGrpSpPr>
        <p:grpSpPr>
          <a:xfrm>
            <a:off x="666750" y="2044700"/>
            <a:ext cx="1741170" cy="2609596"/>
            <a:chOff x="666750" y="2044700"/>
            <a:chExt cx="1741170" cy="2609596"/>
          </a:xfrm>
        </p:grpSpPr>
        <p:sp>
          <p:nvSpPr>
            <p:cNvPr id="11" name="TextBox 11"/>
            <p:cNvSpPr txBox="1"/>
            <p:nvPr/>
          </p:nvSpPr>
          <p:spPr>
            <a:xfrm>
              <a:off x="666750" y="2044700"/>
              <a:ext cx="66507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</a:t>
              </a:r>
              <a:endParaRPr lang="en-US" sz="66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316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经济补偿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505200"/>
              <a:ext cx="1729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合法解除或终止时的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法定补偿。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44196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第四十六、四十七条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term-2N"/>
          <p:cNvGrpSpPr/>
          <p:nvPr/>
        </p:nvGrpSpPr>
        <p:grpSpPr>
          <a:xfrm>
            <a:off x="4171950" y="2044700"/>
            <a:ext cx="1741170" cy="2914396"/>
            <a:chOff x="4171950" y="2044700"/>
            <a:chExt cx="1741170" cy="2914396"/>
          </a:xfrm>
        </p:grpSpPr>
        <p:sp>
          <p:nvSpPr>
            <p:cNvPr id="16" name="TextBox 16"/>
            <p:cNvSpPr txBox="1"/>
            <p:nvPr/>
          </p:nvSpPr>
          <p:spPr>
            <a:xfrm>
              <a:off x="4171950" y="2044700"/>
              <a:ext cx="129204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2N</a:t>
              </a:r>
              <a:endParaRPr lang="en-US" sz="66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3380" y="31623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违法解除赔偿金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3380" y="3505200"/>
              <a:ext cx="1729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按经济补偿标准的二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倍支付，或要求继续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履行合同。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4904" y="47244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第四十八、八十七条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term-Nplus1"/>
          <p:cNvGrpSpPr/>
          <p:nvPr/>
        </p:nvGrpSpPr>
        <p:grpSpPr>
          <a:xfrm>
            <a:off x="7677150" y="2044700"/>
            <a:ext cx="1919021" cy="2914396"/>
            <a:chOff x="7677150" y="2044700"/>
            <a:chExt cx="1919021" cy="2914396"/>
          </a:xfrm>
        </p:grpSpPr>
        <p:sp>
          <p:nvSpPr>
            <p:cNvPr id="21" name="TextBox 21"/>
            <p:cNvSpPr txBox="1"/>
            <p:nvPr/>
          </p:nvSpPr>
          <p:spPr>
            <a:xfrm>
              <a:off x="7677150" y="2044700"/>
              <a:ext cx="191902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N+1</a:t>
              </a:r>
              <a:endParaRPr lang="en-US" sz="66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8580" y="3162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代通知金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8580" y="3505200"/>
              <a:ext cx="1729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仅第四十条情形未提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前三十日书面通知时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另加的一个月工资。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90104" y="4724400"/>
              <a:ext cx="189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 之外的一笔，不是补偿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term-warning"/>
          <p:cNvGrpSpPr/>
          <p:nvPr/>
        </p:nvGrpSpPr>
        <p:grpSpPr>
          <a:xfrm>
            <a:off x="685800" y="5334000"/>
            <a:ext cx="10820400" cy="723900"/>
            <a:chOff x="685800" y="5334000"/>
            <a:chExt cx="10820400" cy="723900"/>
          </a:xfrm>
        </p:grpSpPr>
        <p:sp>
          <p:nvSpPr>
            <p:cNvPr id="26" name="Rectangle 26"/>
            <p:cNvSpPr/>
            <p:nvPr/>
          </p:nvSpPr>
          <p:spPr>
            <a:xfrm>
              <a:off x="685800" y="5334000"/>
              <a:ext cx="108204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8680" y="54483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不要相加</a:t>
              </a:r>
              <a:endParaRPr lang="zh-CN" sz="15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8680" y="5734050"/>
              <a:ext cx="9922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2N 与 N+1 是两条不同路径的结果：要么主张违法解除的赔偿金，要么接受合法解除的补偿加代通知金。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79704" y="636270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离职 · 违法解除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仲裁时效一年，证据在谁手里谁举证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406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拖欠劳动报酬的起算点，和一般争议不一样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limitation"/>
          <p:cNvGrpSpPr/>
          <p:nvPr/>
        </p:nvGrpSpPr>
        <p:grpSpPr>
          <a:xfrm>
            <a:off x="669036" y="2032000"/>
            <a:ext cx="9838944" cy="1385570"/>
            <a:chOff x="669036" y="2032000"/>
            <a:chExt cx="9838944" cy="1385570"/>
          </a:xfrm>
        </p:grpSpPr>
        <p:sp>
          <p:nvSpPr>
            <p:cNvPr id="11" name="TextBox 11"/>
            <p:cNvSpPr txBox="1"/>
            <p:nvPr/>
          </p:nvSpPr>
          <p:spPr>
            <a:xfrm>
              <a:off x="669036" y="2032000"/>
              <a:ext cx="87675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 年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7380" y="21336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申请仲裁的时效期间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8904" y="2438400"/>
              <a:ext cx="2743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《劳动争议调解仲裁法》第二十七条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781300"/>
              <a:ext cx="9829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自知道或应当知道权利被侵害之日起计算；主张权利、请求救济或对方同意履行，时效中断并重新计算。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180" y="3124200"/>
              <a:ext cx="9829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劳动关系存续期间因拖欠劳动报酬发生争议不受一年限制；劳动关系终止的，自终止之日起一年内提出。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burden-worker"/>
          <p:cNvGrpSpPr/>
          <p:nvPr/>
        </p:nvGrpSpPr>
        <p:grpSpPr>
          <a:xfrm>
            <a:off x="678180" y="3905250"/>
            <a:ext cx="4960620" cy="1188720"/>
            <a:chOff x="678180" y="3905250"/>
            <a:chExt cx="4960620" cy="1188720"/>
          </a:xfrm>
        </p:grpSpPr>
        <p:sp>
          <p:nvSpPr>
            <p:cNvPr id="17" name="TextBox 17"/>
            <p:cNvSpPr txBox="1"/>
            <p:nvPr/>
          </p:nvSpPr>
          <p:spPr>
            <a:xfrm>
              <a:off x="678180" y="39052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劳动者举证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42481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8180" y="4419600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加班事实、工资差额、未休年休假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180" y="4800600"/>
              <a:ext cx="3642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保留劳动合同、流水、考勤、解除通知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burden-employer"/>
          <p:cNvGrpSpPr/>
          <p:nvPr/>
        </p:nvGrpSpPr>
        <p:grpSpPr>
          <a:xfrm>
            <a:off x="5935980" y="3905250"/>
            <a:ext cx="5570220" cy="1188720"/>
            <a:chOff x="5935980" y="3905250"/>
            <a:chExt cx="5570220" cy="1188720"/>
          </a:xfrm>
        </p:grpSpPr>
        <p:sp>
          <p:nvSpPr>
            <p:cNvPr id="22" name="TextBox 22"/>
            <p:cNvSpPr txBox="1"/>
            <p:nvPr/>
          </p:nvSpPr>
          <p:spPr>
            <a:xfrm>
              <a:off x="5935980" y="39052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用人单位举证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5943600" y="42481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35980" y="4419600"/>
              <a:ext cx="5349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与争议有关、由单位掌握管理的证据应当提供（第六条）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35980" y="4800600"/>
              <a:ext cx="4709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开除、辞退、解除合同等决定，由单位负举证责任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path"/>
          <p:cNvGrpSpPr/>
          <p:nvPr/>
        </p:nvGrpSpPr>
        <p:grpSpPr>
          <a:xfrm>
            <a:off x="685800" y="5524500"/>
            <a:ext cx="10820400" cy="666750"/>
            <a:chOff x="685800" y="5524500"/>
            <a:chExt cx="10820400" cy="666750"/>
          </a:xfrm>
        </p:grpSpPr>
        <p:sp>
          <p:nvSpPr>
            <p:cNvPr id="27" name="Rectangle 27"/>
            <p:cNvSpPr/>
            <p:nvPr/>
          </p:nvSpPr>
          <p:spPr>
            <a:xfrm>
              <a:off x="685800" y="5524500"/>
              <a:ext cx="108204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8680" y="5619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维权路径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11680" y="5619750"/>
              <a:ext cx="5018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协商 → 调解 → 仲裁 → 诉讼（仲裁是诉讼的前置程序）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204" y="5924550"/>
              <a:ext cx="4962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补缴社会保险费：向社会保险费征收机构或劳动保障监察部门投诉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79704" y="6362700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救济 · 时效与举证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" name="header"/>
          <p:cNvGrpSpPr/>
          <p:nvPr/>
        </p:nvGrpSpPr>
        <p:grpSpPr>
          <a:xfrm>
            <a:off x="672084" y="787400"/>
            <a:ext cx="7519416" cy="1068070"/>
            <a:chOff x="672084" y="787400"/>
            <a:chExt cx="7519416" cy="1068070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签了「自愿放弃社保」后工伤，四步走完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562100"/>
              <a:ext cx="3642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声明不构成免责抗辩，待遇一分都不少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step-1"/>
          <p:cNvGrpSpPr/>
          <p:nvPr/>
        </p:nvGrpSpPr>
        <p:grpSpPr>
          <a:xfrm>
            <a:off x="669036" y="2222500"/>
            <a:ext cx="1738884" cy="2088896"/>
            <a:chOff x="669036" y="2222500"/>
            <a:chExt cx="1738884" cy="2088896"/>
          </a:xfrm>
        </p:grpSpPr>
        <p:sp>
          <p:nvSpPr>
            <p:cNvPr id="11" name="TextBox 11"/>
            <p:cNvSpPr txBox="1"/>
            <p:nvPr/>
          </p:nvSpPr>
          <p:spPr>
            <a:xfrm>
              <a:off x="669036" y="22225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2857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声明无效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181350"/>
              <a:ext cx="1729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约定或承诺不缴社保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的，应当认定无效。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40767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解释（二）第十九条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step-2"/>
          <p:cNvGrpSpPr/>
          <p:nvPr/>
        </p:nvGrpSpPr>
        <p:grpSpPr>
          <a:xfrm>
            <a:off x="3602736" y="2222500"/>
            <a:ext cx="1710309" cy="2393696"/>
            <a:chOff x="3602736" y="2222500"/>
            <a:chExt cx="1710309" cy="2393696"/>
          </a:xfrm>
        </p:grpSpPr>
        <p:sp>
          <p:nvSpPr>
            <p:cNvPr id="16" name="TextBox 16"/>
            <p:cNvSpPr txBox="1"/>
            <p:nvPr/>
          </p:nvSpPr>
          <p:spPr>
            <a:xfrm>
              <a:off x="3602736" y="22225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1880" y="2857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工伤认定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1880" y="3181350"/>
              <a:ext cx="170116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30 日内申请；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未申请的，劳动者 1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年内可直接申请。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3404" y="438150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第十七条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step-3"/>
          <p:cNvGrpSpPr/>
          <p:nvPr/>
        </p:nvGrpSpPr>
        <p:grpSpPr>
          <a:xfrm>
            <a:off x="6536436" y="2222500"/>
            <a:ext cx="2119884" cy="2222246"/>
            <a:chOff x="6536436" y="2222500"/>
            <a:chExt cx="2119884" cy="2222246"/>
          </a:xfrm>
        </p:grpSpPr>
        <p:sp>
          <p:nvSpPr>
            <p:cNvPr id="21" name="TextBox 21"/>
            <p:cNvSpPr txBox="1"/>
            <p:nvPr/>
          </p:nvSpPr>
          <p:spPr>
            <a:xfrm>
              <a:off x="6536436" y="22225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5580" y="2857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待遇承担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45580" y="3181350"/>
              <a:ext cx="2110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未参保由单位按条例项目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和标准支付；不支付的，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基金先行支付后追偿。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7104" y="421005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第六十二条第二款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step-4"/>
          <p:cNvGrpSpPr/>
          <p:nvPr/>
        </p:nvGrpSpPr>
        <p:grpSpPr>
          <a:xfrm>
            <a:off x="9470136" y="2222500"/>
            <a:ext cx="1548384" cy="2393696"/>
            <a:chOff x="9470136" y="2222500"/>
            <a:chExt cx="1548384" cy="2393696"/>
          </a:xfrm>
        </p:grpSpPr>
        <p:sp>
          <p:nvSpPr>
            <p:cNvPr id="26" name="TextBox 26"/>
            <p:cNvSpPr txBox="1"/>
            <p:nvPr/>
          </p:nvSpPr>
          <p:spPr>
            <a:xfrm>
              <a:off x="9470136" y="2222500"/>
              <a:ext cx="5498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04</a:t>
              </a:r>
              <a:endParaRPr lang="zh-CN" sz="33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9280" y="2857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解除并补偿</a:t>
              </a:r>
              <a:endParaRPr lang="zh-CN" sz="15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9280" y="3181350"/>
              <a:ext cx="15392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可以未依法缴纳社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保为由解除，并主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张经济补偿。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80804" y="438150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第三十八条第三项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scenario-note"/>
          <p:cNvGrpSpPr/>
          <p:nvPr/>
        </p:nvGrpSpPr>
        <p:grpSpPr>
          <a:xfrm>
            <a:off x="685800" y="4953000"/>
            <a:ext cx="10820400" cy="1047750"/>
            <a:chOff x="685800" y="4953000"/>
            <a:chExt cx="10820400" cy="1047750"/>
          </a:xfrm>
        </p:grpSpPr>
        <p:sp>
          <p:nvSpPr>
            <p:cNvPr id="31" name="Rectangle 31"/>
            <p:cNvSpPr/>
            <p:nvPr/>
          </p:nvSpPr>
          <p:spPr>
            <a:xfrm>
              <a:off x="685800" y="4953000"/>
              <a:ext cx="108204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8680" y="50673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两个容易漏掉的点</a:t>
              </a:r>
              <a:endParaRPr lang="zh-CN" sz="15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8680" y="5372100"/>
              <a:ext cx="8730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单位依法补缴社会保险费后，可以要求劳动者返还已发放的社保补贴（第十九条第三款）。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8680" y="5676900"/>
              <a:ext cx="68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只要求补缴、不主张工伤待遇损失，是最常见的误区——待遇是另一笔。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79704" y="6362700"/>
            <a:ext cx="10832592" cy="234696"/>
            <a:chOff x="679704" y="6362700"/>
            <a:chExt cx="108325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79704" y="6362700"/>
              <a:ext cx="2086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场景检验 · 放弃社保后工伤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12347" y="63627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il"/>
          <p:cNvGrpSpPr/>
          <p:nvPr/>
        </p:nvGrpSpPr>
        <p:grpSpPr>
          <a:xfrm>
            <a:off x="8534400" y="419100"/>
            <a:ext cx="2476500" cy="57150"/>
            <a:chOff x="8534400" y="419100"/>
            <a:chExt cx="2476500" cy="57150"/>
          </a:xfrm>
        </p:grpSpPr>
        <p:sp>
          <p:nvSpPr>
            <p:cNvPr id="2" name="Rectangle 2"/>
            <p:cNvSpPr/>
            <p:nvPr/>
          </p:nvSpPr>
          <p:spPr>
            <a:xfrm>
              <a:off x="85344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91821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98298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0" y="419100"/>
              <a:ext cx="5334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header"/>
          <p:cNvGrpSpPr/>
          <p:nvPr/>
        </p:nvGrpSpPr>
        <p:grpSpPr>
          <a:xfrm>
            <a:off x="672084" y="787400"/>
            <a:ext cx="7519416" cy="650875"/>
            <a:chOff x="672084" y="787400"/>
            <a:chExt cx="7519416" cy="650875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787400"/>
              <a:ext cx="7296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风险不在没有法条，而在没有证据和超过时效</a:t>
              </a:r>
              <a:endParaRPr lang="zh-CN" sz="27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428750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rule-one"/>
          <p:cNvGrpSpPr/>
          <p:nvPr/>
        </p:nvGrpSpPr>
        <p:grpSpPr>
          <a:xfrm>
            <a:off x="675132" y="2082800"/>
            <a:ext cx="8766048" cy="1180846"/>
            <a:chOff x="675132" y="2082800"/>
            <a:chExt cx="8766048" cy="1180846"/>
          </a:xfrm>
        </p:grpSpPr>
        <p:sp>
          <p:nvSpPr>
            <p:cNvPr id="10" name="TextBox 10"/>
            <p:cNvSpPr txBox="1"/>
            <p:nvPr/>
          </p:nvSpPr>
          <p:spPr>
            <a:xfrm>
              <a:off x="675132" y="208280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规律一</a:t>
              </a:r>
              <a:endParaRPr lang="zh-CN" sz="21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97380" y="2171700"/>
              <a:ext cx="598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风险往往不在「没有法条」，而在「没有证据」和「超过时效」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2628900"/>
              <a:ext cx="8763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二倍工资、加班费、违法解除都要求先固定证据；仲裁时效一年，拖欠报酬从关系终止起算。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3028950"/>
              <a:ext cx="2214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对应前文：第 05、06、13 页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rule-two"/>
          <p:cNvGrpSpPr/>
          <p:nvPr/>
        </p:nvGrpSpPr>
        <p:grpSpPr>
          <a:xfrm>
            <a:off x="675132" y="3702050"/>
            <a:ext cx="7699248" cy="1180846"/>
            <a:chOff x="675132" y="3702050"/>
            <a:chExt cx="7699248" cy="1180846"/>
          </a:xfrm>
        </p:grpSpPr>
        <p:sp>
          <p:nvSpPr>
            <p:cNvPr id="15" name="TextBox 15"/>
            <p:cNvSpPr txBox="1"/>
            <p:nvPr/>
          </p:nvSpPr>
          <p:spPr>
            <a:xfrm>
              <a:off x="675132" y="3702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规律二</a:t>
              </a:r>
              <a:endParaRPr lang="zh-CN" sz="21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380" y="379095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强制性保护不能被「自愿」排除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180" y="42481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社保约定无效是最典型的例证；「三期」保护同样不允许以协商方式放弃或降低。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" y="4648200"/>
              <a:ext cx="2214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对应前文：第 08、10、14 页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closing-takeaway"/>
          <p:cNvGrpSpPr/>
          <p:nvPr/>
        </p:nvGrpSpPr>
        <p:grpSpPr>
          <a:xfrm>
            <a:off x="685800" y="5143500"/>
            <a:ext cx="10820400" cy="857250"/>
            <a:chOff x="685800" y="5143500"/>
            <a:chExt cx="10820400" cy="857250"/>
          </a:xfrm>
        </p:grpSpPr>
        <p:sp>
          <p:nvSpPr>
            <p:cNvPr id="20" name="Rectangle 20"/>
            <p:cNvSpPr/>
            <p:nvPr/>
          </p:nvSpPr>
          <p:spPr>
            <a:xfrm>
              <a:off x="685800" y="5143500"/>
              <a:ext cx="108204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52768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带走一句话</a:t>
              </a:r>
              <a:endParaRPr lang="zh-CN" sz="120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549275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先固定证据，再算时效，最后才是法条。</a:t>
              </a:r>
              <a:endParaRPr lang="zh-CN" sz="210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5" name="references"/>
          <p:cNvGrpSpPr/>
          <p:nvPr/>
        </p:nvGrpSpPr>
        <p:grpSpPr>
          <a:xfrm>
            <a:off x="680847" y="6235700"/>
            <a:ext cx="8018160" cy="191643"/>
            <a:chOff x="680847" y="6235700"/>
            <a:chExt cx="8018160" cy="191643"/>
          </a:xfrm>
        </p:grpSpPr>
        <p:sp>
          <p:nvSpPr>
            <p:cNvPr id="24" name="TextBox 24"/>
            <p:cNvSpPr txBox="1"/>
            <p:nvPr/>
          </p:nvSpPr>
          <p:spPr>
            <a:xfrm>
              <a:off x="680847" y="6235700"/>
              <a:ext cx="80181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参考：劳动合同法 · 社会保险法 · 工伤保险条例 · 劳动争议调解仲裁法 · 职工带薪年休假条例 · 最高法解释（一）（二）等 11 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79704" y="6515100"/>
            <a:ext cx="10832592" cy="234696"/>
            <a:chOff x="679704" y="651510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515100"/>
              <a:ext cx="2256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劳动权益重要法律知识 · 小结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2347" y="65151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劳动权益法律知识">
  <a:themeElements>
    <a:clrScheme name="劳动权益法律知识">
      <a:dk1>
        <a:srgbClr val="1F1B16"/>
      </a:dk1>
      <a:lt1>
        <a:srgbClr val="FAF7F0"/>
      </a:lt1>
      <a:dk2>
        <a:srgbClr val="1F497D"/>
      </a:dk2>
      <a:lt2>
        <a:srgbClr val="EFE9DC"/>
      </a:lt2>
      <a:accent1>
        <a:srgbClr val="2B2B2B"/>
      </a:accent1>
      <a:accent2>
        <a:srgbClr val="9A3412"/>
      </a:accent2>
      <a:accent3>
        <a:srgbClr val="6B7280"/>
      </a:accent3>
      <a:accent4>
        <a:srgbClr val="2B2B2B"/>
      </a:accent4>
      <a:accent5>
        <a:srgbClr val="5C554B"/>
      </a:accent5>
      <a:accent6>
        <a:srgbClr val="D9D0C0"/>
      </a:accent6>
      <a:hlink>
        <a:srgbClr val="9A3412"/>
      </a:hlink>
      <a:folHlink>
        <a:srgbClr val="6B7280"/>
      </a:folHlink>
    </a:clrScheme>
    <a:fontScheme name="劳动权益法律知识">
      <a:majorFont>
        <a:latin typeface="Times New Roman"/>
        <a:ea typeface="SimHei"/>
        <a:cs typeface="Times New Roman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劳动权益法律知识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劳动权益法律知识">
  <a:themeElements>
    <a:clrScheme name="劳动权益法律知识">
      <a:dk1>
        <a:srgbClr val="1F1B16"/>
      </a:dk1>
      <a:lt1>
        <a:srgbClr val="FAF7F0"/>
      </a:lt1>
      <a:dk2>
        <a:srgbClr val="1F497D"/>
      </a:dk2>
      <a:lt2>
        <a:srgbClr val="EFE9DC"/>
      </a:lt2>
      <a:accent1>
        <a:srgbClr val="2B2B2B"/>
      </a:accent1>
      <a:accent2>
        <a:srgbClr val="9A3412"/>
      </a:accent2>
      <a:accent3>
        <a:srgbClr val="6B7280"/>
      </a:accent3>
      <a:accent4>
        <a:srgbClr val="2B2B2B"/>
      </a:accent4>
      <a:accent5>
        <a:srgbClr val="5C554B"/>
      </a:accent5>
      <a:accent6>
        <a:srgbClr val="D9D0C0"/>
      </a:accent6>
      <a:hlink>
        <a:srgbClr val="9A3412"/>
      </a:hlink>
      <a:folHlink>
        <a:srgbClr val="6B7280"/>
      </a:folHlink>
    </a:clrScheme>
    <a:fontScheme name="劳动权益法律知识">
      <a:majorFont>
        <a:latin typeface="Times New Roman"/>
        <a:ea typeface="SimHei"/>
        <a:cs typeface="Times New Roman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劳动权益法律知识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3769</Words>
  <Application>WPS 演示</Application>
  <PresentationFormat>On-screen Show (16:9)</PresentationFormat>
  <Paragraphs>580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黑体</vt:lpstr>
      <vt:lpstr>Times New Roman</vt:lpstr>
      <vt:lpstr>微软雅黑</vt:lpstr>
      <vt:lpstr>Arial Unicode MS</vt:lpstr>
      <vt:lpstr>劳动权益法律知识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洛云</cp:lastModifiedBy>
  <cp:revision>2</cp:revision>
  <dcterms:created xsi:type="dcterms:W3CDTF">2026-10-22T00:23:00Z</dcterms:created>
  <dcterms:modified xsi:type="dcterms:W3CDTF">2026-10-22T00:27:35Z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064EAAE9312F4CFD909B00EE250C3260_12</vt:lpwstr>
  </property>
  <property fmtid="{D5CDD505-2E9C-101B-9397-08002B2CF9AE}" pid="3" name="KSOProductBuildVer">
    <vt:lpwstr>2052-12.1.0.29161</vt:lpwstr>
  </property>
</Properties>
</file>